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9D8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9101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nes.datasus.gov.br/pages/downloads/arquivosBaseDados.jsp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ortaldatransparencia.gov.br/servidores/orgao?ordenarPor=orgaoSuperiorLotacaoSIAPE&amp;direcao=asc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94360" y="8229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DE PROFISSIONAIS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VIGILÂNCIA SANITÁRIA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2240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SCNES / DATASUS   ·   Portal da Transparência / ANVISA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651760"/>
            <a:ext cx="777240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9436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 de referência:</a:t>
            </a: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Março/2026</a:t>
            </a:r>
            <a:r>
              <a:rPr lang="en-US" sz="12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|   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Elaborado por:</a:t>
            </a:r>
            <a:r>
              <a:rPr lang="en-US" sz="1200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Milena Moraes Soares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2186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Estagiária de Ciência de Dados e Machine Learning   ·   Maio/2026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4069080"/>
            <a:ext cx="1874520" cy="777240"/>
          </a:xfrm>
          <a:prstGeom prst="rect">
            <a:avLst/>
          </a:prstGeom>
          <a:solidFill>
            <a:srgbClr val="2E75B6">
              <a:alpha val="70000"/>
            </a:srgbClr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04088" y="41239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04088" y="436168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&amp;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de Dados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4069080"/>
            <a:ext cx="1874520" cy="777240"/>
          </a:xfrm>
          <a:prstGeom prst="rect">
            <a:avLst/>
          </a:prstGeom>
          <a:solidFill>
            <a:srgbClr val="2E75B6">
              <a:alpha val="70000"/>
            </a:srgbClr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715768" y="41239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15768" y="436168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&amp;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4069080"/>
            <a:ext cx="1874520" cy="777240"/>
          </a:xfrm>
          <a:prstGeom prst="rect">
            <a:avLst/>
          </a:prstGeom>
          <a:solidFill>
            <a:srgbClr val="2E75B6">
              <a:alpha val="70000"/>
            </a:srgbClr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4727448" y="41239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27448" y="436168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Dados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629400" y="4069080"/>
            <a:ext cx="1874520" cy="777240"/>
          </a:xfrm>
          <a:prstGeom prst="rect">
            <a:avLst/>
          </a:prstGeom>
          <a:solidFill>
            <a:srgbClr val="2E75B6">
              <a:alpha val="70000"/>
            </a:srgbClr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6739128" y="412394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39128" y="436168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&amp;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OBJETIVOS &amp; FONTES DE DADOS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01168" cy="9601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0080" y="11155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Apurar o número de profissionais que atuam em serviços de Vigilância Sanitária no Brasil, considerando duas fontes de dados distintas: o SCNES/DATASUS (profissionais vinculados a estabelecimentos públicos de saúde) e o Portal da Transparência (servidores efetivos da ANVISA).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4114800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1148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SCNES / DATASUS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715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Cadastro Nacional de Estabelecimentos de Saúde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990088"/>
            <a:ext cx="3657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30632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oficial do Ministério da Saúde com informações sobre todos os estabelecimentos de saúde do país, incluindo profissionais vinculados. Base atualizada mensalmente e disponibilizada publicamente.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44622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🔗 cnes.datasus.gov.br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2286000"/>
            <a:ext cx="4114800" cy="251460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 dirty="0">
              <a:solidFill>
                <a:srgbClr val="2A9D8F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09160" y="2286000"/>
            <a:ext cx="411480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846320" y="23774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da Transparência — ANVISA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715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efetivos da ANVISA 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46320" y="2990088"/>
            <a:ext cx="365760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846320" y="306324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dos servidores efetivos da Agência Nacional de Vigilância Sanitária obtidos pelo Portal da Transparência do Governo Federal, com campos de nome, CPF, cargo, situação funcional e unidade de exercício.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44622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🔗 portaldatransparencia.gov.br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COLETA &amp; DIFICULDADES ENCONTRADAS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DE COLETA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1005840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SCNES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572768" y="1508760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da base bruta completa do CNES (março/2026) — 108 tabelas CSV, centenas de MB.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1005840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7200" y="21214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572768" y="2121408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das 108 tabelas: identificação das tabelas 'rl' (relacionamento) e 'tb' (dados).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734056"/>
            <a:ext cx="1005840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27340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Tabela-chave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572768" y="2734056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rlEstabServClass — vínculo entre estabelecimento, serviço 141 e classificação 002 (VISA).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346704"/>
            <a:ext cx="1005840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334670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572768" y="334670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tbCargaHorariaSus (vínculos) + tbDadosProfissionalSus (dados individuais).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959352"/>
            <a:ext cx="1005840" cy="25603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57200" y="39593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ANVISA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572768" y="3959352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da Transparência: exportação por órgão ANVISA com nome, CPF, cargo, UORG.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6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846320" y="1143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DIFICULDADES ENCONTRADAS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1563624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074920" y="150876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&amp; Complexidade CNES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7492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tabelas; análise manual do modelo relacional.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2176272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5074920" y="21214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Limitação do TABNET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74920" y="2350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filtro por serviço/classificação na interface web — necessário trabalhar com a base bruta.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2788920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5074920" y="273405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Duplicidade no CNES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74920" y="29626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profissional vinculado a múltiplos estabelecimentos. Solução: .nunique() em CO_PROFISSIONAL_SUS.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3401568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5074920" y="33467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Duplicidade na ANVISA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74920" y="35753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registros por servidor (cargo + CCT). Deduplicação por CPF priorizando cargo real.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800600" y="4014216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5074920" y="39593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UF na ANVISA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74920" y="4187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UORGs sem padrão de sufixo estadual. Convenção: atribuição ao Distrito Federal como UF padrão.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ANÁLISE — PROFISSIONAIS VISA POR ESTADO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dash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1306C0BA-8BBB-C725-AC70-12BCD8375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59" y="970384"/>
            <a:ext cx="8540621" cy="40359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ANÁLISE — PROFISSIONAIS VISA POR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dash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2560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PAINEL DE BI ]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E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Insira aqui o seu dashboard / painel interativo</a:t>
            </a:r>
            <a:endParaRPr lang="en-US" sz="1200" dirty="0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E5050F24-753E-A05B-D307-12CFD2488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8" y="970384"/>
            <a:ext cx="8540621" cy="40359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ANÁLISE — SERVIDORES ANVISA POR ESTADO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dash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6905143-3A42-0A1F-F25F-8F76127B4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957943"/>
            <a:ext cx="8716347" cy="41256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ANÁLISE — SERVIDORES ANVISA POR UNIDADE (UORG)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374904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dash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DAD4E24-7BC4-7D3A-E67B-0B7A2A0CF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41" y="990772"/>
            <a:ext cx="8509518" cy="40256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|  TRATAMENTO DE DADOS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82880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openpyxl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463040"/>
            <a:ext cx="411480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75B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41148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DO SCNES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956816"/>
            <a:ext cx="219456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7200" y="19568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" y="192024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dos CSVs com encoding latin-1 e separador ponto e vírgula (padrão DATASUS).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505456"/>
            <a:ext cx="219456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25054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9808" y="246888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do rlEstabServClass pelo Serviço 141 e Classificação 002 — estabelecimentos elegíveis.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054096"/>
            <a:ext cx="219456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7200" y="3054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9808" y="301752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 com tbCargaHorariaSus para identificar profissionais vinculados.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219456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457200" y="36027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9808" y="356616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Enriquecimento com tbEstabelecimento, tbMunicipio e tbEstado — dados geográficos.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151376"/>
            <a:ext cx="219456" cy="21945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457200" y="41513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" y="411480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de indivíduos únicos via .nunique() em CO_PROFISSIONAL_SUS por nível geográfico.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1463040"/>
            <a:ext cx="4114800" cy="338328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709160" y="1463040"/>
            <a:ext cx="411480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4846320" y="1554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DA ANVISA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28032" y="1956816"/>
            <a:ext cx="219456" cy="21945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828032" y="19568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120640" y="192024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 CSV com encoding UTF-8 BOM (padrão do Portal da Transparência).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28032" y="2505456"/>
            <a:ext cx="219456" cy="21945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4828032" y="25054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20640" y="246888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e remoção de duplicatas por CPF, priorizando registros com cargo funcional real.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28032" y="3054096"/>
            <a:ext cx="219456" cy="21945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4828032" y="30540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20640" y="301752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Extração da sigla de UF a partir do sufixo do nome da UORG via expressão regular.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28032" y="3602736"/>
            <a:ext cx="219456" cy="21945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828032" y="360273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20640" y="356616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Atribuição automática de DF para UORGs sem padrão de UF identificável.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28032" y="4151376"/>
            <a:ext cx="219456" cy="219456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1" name="Text 39"/>
          <p:cNvSpPr/>
          <p:nvPr/>
        </p:nvSpPr>
        <p:spPr>
          <a:xfrm>
            <a:off x="4828032" y="41513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20640" y="4114800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Agregação por estado e por unidade organizacional (UORG).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9144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RESULTADOS &amp; LIMITAÇÕES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02412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GERADOS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5212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164592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21792" y="1408176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VISA — por Estado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61848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relatorio_visa_por_estado.xlsx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1938528"/>
            <a:ext cx="5212080" cy="502920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65760" y="1938528"/>
            <a:ext cx="164592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21792" y="1975104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Profissionais VISA — por Município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21854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relatorio_visa_por_municipio.xlsx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505456"/>
            <a:ext cx="5212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65760" y="2505456"/>
            <a:ext cx="164592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21792" y="2542032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ANVISA — por Estado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" y="27523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relatorio_anvisa_por_estado.xlsx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072384"/>
            <a:ext cx="5212080" cy="502920"/>
          </a:xfrm>
          <a:prstGeom prst="rect">
            <a:avLst/>
          </a:prstGeom>
          <a:solidFill>
            <a:srgbClr val="EDF2F7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365760" y="3072384"/>
            <a:ext cx="164592" cy="5029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21792" y="3108960"/>
            <a:ext cx="3200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ANVISA — por Unidade (UORG)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33192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relatorio_anvisa_por_unidade.xlsx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06440" y="1024128"/>
            <a:ext cx="3017520" cy="3794760"/>
          </a:xfrm>
          <a:prstGeom prst="rect">
            <a:avLst/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5806440" y="1024128"/>
            <a:ext cx="301752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5943600" y="1115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OBSERVAÇÕES &amp; LIMITAÇÕES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97880" y="1517904"/>
            <a:ext cx="182880" cy="1828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153912" y="14630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refletem apenas estabelecimentos devidamente cadastrados no SCNES.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97880" y="2130552"/>
            <a:ext cx="182880" cy="1828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153912" y="20756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CNES considera vínculos ativos em março/2026 — afastados não constam.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897880" y="2743200"/>
            <a:ext cx="182880" cy="1828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153912" y="268833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ANVISA corresponde ao arquivo disponível na data de extração; reprocessar para atualizações.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97880" y="3355848"/>
            <a:ext cx="182880" cy="1828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153912" y="330098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UORGs sem sufixo de UF atribuídas ao DF por convenção — revisão pontual pode ser necessária.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657600"/>
            <a:ext cx="5212080" cy="7315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548640" y="37033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REPRODUTIBILIDADE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3913632"/>
            <a:ext cx="4892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 disponíveis nos repositórios: analise-visa-cnes  ·  analise-servidores-anvisa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B0C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contém README.md com instruções de instalação, configuração e execução.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3065</TotalTime>
  <Words>765</Words>
  <Application>Microsoft Office PowerPoint</Application>
  <PresentationFormat>Apresentação na tela (16:9)</PresentationFormat>
  <Paragraphs>108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Levantamento de Profissionais em Vigilância Sanitária</dc:title>
  <dc:subject>PptxGenJS Presentation</dc:subject>
  <dc:creator>PptxGenJS</dc:creator>
  <cp:lastModifiedBy>Milena Moraes Soares</cp:lastModifiedBy>
  <cp:revision>75</cp:revision>
  <dcterms:created xsi:type="dcterms:W3CDTF">2026-05-06T11:09:13Z</dcterms:created>
  <dcterms:modified xsi:type="dcterms:W3CDTF">2026-05-13T11:54:34Z</dcterms:modified>
</cp:coreProperties>
</file>